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直接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T1 小</c:v>
                  </c:pt>
                  <c:pt idx="1">
                    <c:v>T2 中</c:v>
                  </c:pt>
                  <c:pt idx="2">
                    <c:v>T3 大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0.471</c:v>
                </c:pt>
                <c:pt idx="1">
                  <c:v>0.5517</c:v>
                </c:pt>
                <c:pt idx="2">
                  <c:v>0.5793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委派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$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T1 小</c:v>
                  </c:pt>
                  <c:pt idx="1">
                    <c:v>T2 中</c:v>
                  </c:pt>
                  <c:pt idx="2">
                    <c:v>T3 大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0.4304</c:v>
                </c:pt>
                <c:pt idx="1">
                  <c:v>0.4893</c:v>
                </c:pt>
                <c:pt idx="2">
                  <c:v>0.5576</c:v>
                </c:pt>
              </c:numCache>
            </c:numRef>
          </c:val>
        </c:ser>
        <c:dLbls>
          <c:numFmt formatCode="$0.00" sourceLinked="0"/>
          <c:txPr>
            <a:bodyPr/>
            <a:lstStyle/>
            <a:p>
              <a:pPr>
                <a:defRPr b="0" i="0" strike="noStrike" sz="950" u="none">
                  <a:solidFill>
                    <a:srgbClr val="F8FAF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C28"/>
        </a:solidFill>
        <a:ln>
          <a:noFill/>
        </a:ln>
        <a:effectLst/>
      </c:spPr>
    </c:plotArea>
    <c:plotVisOnly val="1"/>
    <c:dispBlanksAs val="span"/>
  </c:chart>
  <c:spPr>
    <a:solidFill>
      <a:srgbClr val="171C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委派给 kiro</a:t>
            </a:r>
            <a:pPr algn="l"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l" indent="0" marL="0">
              <a:buNone/>
            </a:pPr>
            <a:r>
              <a:rPr lang="en-US" sz="3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直接用 Claude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同模型 Opus 4.8 · 3 个编码任务(小 → 大)· 各跑一次 · 独立 pytest 验证 · n=1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646920" y="420624"/>
            <a:ext cx="1993392" cy="457200"/>
          </a:xfrm>
          <a:prstGeom prst="roundRect">
            <a:avLst>
              <a:gd name="adj" fmla="val 16000"/>
            </a:avLst>
          </a:prstGeom>
          <a:solidFill>
            <a:srgbClr val="1E2433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42062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干净重跑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 无崩溃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670048" cy="1874520"/>
          </a:xfrm>
          <a:prstGeom prst="rect">
            <a:avLst/>
          </a:prstGeom>
          <a:solidFill>
            <a:srgbClr val="171C28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2670048" cy="5029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7393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157984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−30%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86384" y="28529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宿主 token 总量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6384" y="30906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1.10M → 0.77M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65576" y="1481328"/>
            <a:ext cx="2670048" cy="1874520"/>
          </a:xfrm>
          <a:prstGeom prst="rect">
            <a:avLst/>
          </a:prstGeom>
          <a:solidFill>
            <a:srgbClr val="171C28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65576" y="1481328"/>
            <a:ext cx="2670048" cy="5029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73936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66744" y="2157984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−65%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3703320" y="28529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最贵的 output token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703320" y="30906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$25/M 项,几乎全推给 kiro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82512" y="1481328"/>
            <a:ext cx="2670048" cy="1874520"/>
          </a:xfrm>
          <a:prstGeom prst="rect">
            <a:avLst/>
          </a:prstGeom>
          <a:solidFill>
            <a:srgbClr val="171C28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82512" y="1481328"/>
            <a:ext cx="2670048" cy="50292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77393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2157984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−8%</a:t>
            </a:r>
            <a:endParaRPr lang="en-US" sz="5000" dirty="0"/>
          </a:p>
        </p:txBody>
      </p:sp>
      <p:sp>
        <p:nvSpPr>
          <p:cNvPr id="22" name="Text 17"/>
          <p:cNvSpPr/>
          <p:nvPr/>
        </p:nvSpPr>
        <p:spPr>
          <a:xfrm>
            <a:off x="6620256" y="28529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总成本(3 任务合计)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620256" y="30906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$1.60 → $1.48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299448" y="1481328"/>
            <a:ext cx="2670048" cy="1874520"/>
          </a:xfrm>
          <a:prstGeom prst="rect">
            <a:avLst/>
          </a:prstGeom>
          <a:solidFill>
            <a:srgbClr val="171C28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299448" y="1481328"/>
            <a:ext cx="2670048" cy="50292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1773936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00616" y="2157984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 9%</a:t>
            </a:r>
            <a:endParaRPr lang="en-US" sz="4200" dirty="0"/>
          </a:p>
        </p:txBody>
      </p:sp>
      <p:sp>
        <p:nvSpPr>
          <p:cNvPr id="28" name="Text 22"/>
          <p:cNvSpPr/>
          <p:nvPr/>
        </p:nvSpPr>
        <p:spPr>
          <a:xfrm>
            <a:off x="9537192" y="285292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占委派总成本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9537192" y="3090672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3.37 credits ≈ $0.13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48640" y="3703320"/>
            <a:ext cx="5486400" cy="2606040"/>
          </a:xfrm>
          <a:prstGeom prst="rect">
            <a:avLst/>
          </a:prstGeom>
          <a:solidFill>
            <a:srgbClr val="171C28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86384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每任务总成本 (USD)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3657600" y="3886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直接</a:t>
            </a:r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■ 委派</a:t>
            </a:r>
            <a:endParaRPr lang="en-US" sz="11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8368" y="4251960"/>
          <a:ext cx="5212080" cy="1892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4" name="Shape 27"/>
          <p:cNvSpPr/>
          <p:nvPr/>
        </p:nvSpPr>
        <p:spPr>
          <a:xfrm>
            <a:off x="6263640" y="3703320"/>
            <a:ext cx="5376672" cy="2606040"/>
          </a:xfrm>
          <a:prstGeom prst="rect">
            <a:avLst/>
          </a:prstGeom>
          <a:solidFill>
            <a:srgbClr val="171C28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501384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6537960" y="4306824"/>
            <a:ext cx="137160" cy="1371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7" name="Text 30"/>
          <p:cNvSpPr/>
          <p:nvPr/>
        </p:nvSpPr>
        <p:spPr>
          <a:xfrm>
            <a:off x="6793992" y="4215384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中大任务委派更省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6793992" y="4489704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把最贵的 output token 转移到 kiro,规模越大越划算。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537960" y="4965192"/>
            <a:ext cx="137160" cy="1371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0" name="Text 33"/>
          <p:cNvSpPr/>
          <p:nvPr/>
        </p:nvSpPr>
        <p:spPr>
          <a:xfrm>
            <a:off x="6793992" y="4873752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小任务基本打平</a:t>
            </a:r>
            <a:endParaRPr lang="en-US" sz="1350" dirty="0"/>
          </a:p>
        </p:txBody>
      </p:sp>
      <p:sp>
        <p:nvSpPr>
          <p:cNvPr id="41" name="Text 34"/>
          <p:cNvSpPr/>
          <p:nvPr/>
        </p:nvSpPr>
        <p:spPr>
          <a:xfrm>
            <a:off x="6793992" y="5148072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固定开销(插件装载 + 验证)摊不薄,方向随轨迹噪声翻转。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537960" y="5623560"/>
            <a:ext cx="137160" cy="1371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3" name="Text 36"/>
          <p:cNvSpPr/>
          <p:nvPr/>
        </p:nvSpPr>
        <p:spPr>
          <a:xfrm>
            <a:off x="6793992" y="5532120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质量不打折,计账精确</a:t>
            </a:r>
            <a:endParaRPr lang="en-US" sz="1350" dirty="0"/>
          </a:p>
        </p:txBody>
      </p:sp>
      <p:sp>
        <p:nvSpPr>
          <p:cNvPr id="44" name="Text 37"/>
          <p:cNvSpPr/>
          <p:nvPr/>
        </p:nvSpPr>
        <p:spPr>
          <a:xfrm>
            <a:off x="6793992" y="580644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全部独立 pytest 通过;credit 计数与计费器吻合,误差 ≈ 0.003。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2026-06-14 干净重跑 · Opus 4.8 双侧 · API 牌价口径(cache write 分 5m/1h,与 Claude 自报一致)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Delegate to kiro — cost experiment</dc:title>
  <dc:subject>PptxGenJS Presentation</dc:subject>
  <dc:creator>kiro-acp-plugin</dc:creator>
  <cp:lastModifiedBy>kiro-acp-plugin</cp:lastModifiedBy>
  <cp:revision>1</cp:revision>
  <dcterms:created xsi:type="dcterms:W3CDTF">2026-06-14T07:37:46Z</dcterms:created>
  <dcterms:modified xsi:type="dcterms:W3CDTF">2026-06-14T07:37:46Z</dcterms:modified>
</cp:coreProperties>
</file>